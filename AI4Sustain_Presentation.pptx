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71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7" r:id="rId10"/>
    <p:sldId id="269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01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5B62B0-53EA-495A-8857-38EA5D888369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B33319-5608-4FBF-81D8-8F67079A29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097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70BA0E-80FE-8B59-F910-F4CED84916B9}"/>
              </a:ext>
            </a:extLst>
          </p:cNvPr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3238F0-723F-B142-097D-F83119DCBD85}"/>
              </a:ext>
            </a:extLst>
          </p:cNvPr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831BA5-2B03-1164-05CF-019D601C8A2F}"/>
              </a:ext>
            </a:extLst>
          </p:cNvPr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3502FA-D8F0-DDCA-1271-E175E01EB1B2}"/>
              </a:ext>
            </a:extLst>
          </p:cNvPr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7DF4199B-6FF2-8627-7FE3-94BDDFD65F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6B076936-0B92-9DA1-1749-315CD2C097C7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F8498084-83F0-E6E1-F8F3-0C7FA8DD3B73}"/>
              </a:ext>
            </a:extLst>
          </p:cNvPr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2F664805-3869-FA61-D68B-F38E33033A8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7CAC0527-476D-0266-5B8F-39FBB48F3AF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A6E966EF-E88D-EF3D-9978-3CB54ACE6D59}"/>
              </a:ext>
            </a:extLst>
          </p:cNvPr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D4F27B-7390-3B79-C22D-DC349B087586}"/>
              </a:ext>
            </a:extLst>
          </p:cNvPr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9D2EDF3-3FE8-60B1-EB05-511A82DA36B4}"/>
              </a:ext>
            </a:extLst>
          </p:cNvPr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9C38F34-3942-BAF3-338E-5505761CA616}"/>
              </a:ext>
            </a:extLst>
          </p:cNvPr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E241D52-7888-35D4-EA25-772300460A27}"/>
              </a:ext>
            </a:extLst>
          </p:cNvPr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B0B09ED-5169-107B-3523-2E7128FE94F3}"/>
              </a:ext>
            </a:extLst>
          </p:cNvPr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D3DB11D-DE5D-D0CB-7F07-FAD571A9772C}"/>
              </a:ext>
            </a:extLst>
          </p:cNvPr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Date Placeholder 27">
            <a:extLst>
              <a:ext uri="{FF2B5EF4-FFF2-40B4-BE49-F238E27FC236}">
                <a16:creationId xmlns:a16="http://schemas.microsoft.com/office/drawing/2014/main" id="{EC6414FF-5851-7C12-5EEC-78F230AA755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fld id="{B9DB954F-D79C-4F38-91D4-6D866990DF49}" type="datetime1">
              <a:rPr lang="en-US" smtClean="0"/>
              <a:t>5/7/2026</a:t>
            </a:fld>
            <a:endParaRPr lang="en-US"/>
          </a:p>
        </p:txBody>
      </p:sp>
      <p:sp>
        <p:nvSpPr>
          <p:cNvPr id="21" name="Footer Placeholder 16">
            <a:extLst>
              <a:ext uri="{FF2B5EF4-FFF2-40B4-BE49-F238E27FC236}">
                <a16:creationId xmlns:a16="http://schemas.microsoft.com/office/drawing/2014/main" id="{705B253A-402F-19FA-9FA1-3DBDF09D8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22" name="Slide Number Placeholder 28">
            <a:extLst>
              <a:ext uri="{FF2B5EF4-FFF2-40B4-BE49-F238E27FC236}">
                <a16:creationId xmlns:a16="http://schemas.microsoft.com/office/drawing/2014/main" id="{BE6D9970-3268-9778-522A-3D32F849C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0168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AE8C7-7384-4842-9E8B-0AB496CD6C6E}" type="datetime1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3947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37F4CABA-8E3C-6E24-1506-A1EDA2AA3C89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2" name="Title Placeholder 21">
            <a:extLst>
              <a:ext uri="{FF2B5EF4-FFF2-40B4-BE49-F238E27FC236}">
                <a16:creationId xmlns:a16="http://schemas.microsoft.com/office/drawing/2014/main" id="{74B18F2B-15DD-B3EB-87B4-88E3E8B6A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28" name="Text Placeholder 12">
            <a:extLst>
              <a:ext uri="{FF2B5EF4-FFF2-40B4-BE49-F238E27FC236}">
                <a16:creationId xmlns:a16="http://schemas.microsoft.com/office/drawing/2014/main" id="{34F213AD-62EC-8E02-487E-FEB352253E1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ECCA992-02EA-14EE-AEF3-24C59397B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fld id="{B5F97CC3-5E23-4EC8-ACBC-A3281C1FB192}" type="datetime1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E81A0A-0B15-68E1-1703-30715A5BEC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D85FB31A-F81E-85D0-74EC-267DE2DAA2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32" name="Straight Connector 8">
            <a:extLst>
              <a:ext uri="{FF2B5EF4-FFF2-40B4-BE49-F238E27FC236}">
                <a16:creationId xmlns:a16="http://schemas.microsoft.com/office/drawing/2014/main" id="{2E9AAA8F-958B-7A6F-D953-8A6A4AD2D7CB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D694FB-20EC-2B3A-E85F-BFBC5DB94A7B}"/>
              </a:ext>
            </a:extLst>
          </p:cNvPr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34" name="Straight Connector 10">
            <a:extLst>
              <a:ext uri="{FF2B5EF4-FFF2-40B4-BE49-F238E27FC236}">
                <a16:creationId xmlns:a16="http://schemas.microsoft.com/office/drawing/2014/main" id="{6E269FC6-F595-3264-BB56-B9936809AAE1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B783BF-D16A-7CDC-EE7F-FEDB6A72FD08}"/>
              </a:ext>
            </a:extLst>
          </p:cNvPr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E45907E5-D408-D984-4412-FE381130E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 b="1">
                <a:solidFill>
                  <a:srgbClr val="FFFFFF"/>
                </a:solidFill>
                <a:latin typeface="Century Schoolbook" panose="02040604050505020304" pitchFamily="18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22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1" fontAlgn="base" hangingPunct="1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1" fontAlgn="base" hangingPunct="1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1" fontAlgn="base" hangingPunct="1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1" fontAlgn="base" hangingPunct="1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anose="05020102010507070707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ubtitle 2">
            <a:extLst>
              <a:ext uri="{FF2B5EF4-FFF2-40B4-BE49-F238E27FC236}">
                <a16:creationId xmlns:a16="http://schemas.microsoft.com/office/drawing/2014/main" id="{3038BFD3-2529-0BA9-481D-6113EAE764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124200"/>
            <a:ext cx="8534400" cy="35052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SUBMITTED BY			                   SUPERVISED BY </a:t>
            </a:r>
          </a:p>
          <a:p>
            <a:pPr eaLnBrk="1" hangingPunct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Mohd Hassan                   	                                         Dr. Aaina </a:t>
            </a:r>
          </a:p>
          <a:p>
            <a:pPr eaLnBrk="1" hangingPunct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2023-310-158        			</a:t>
            </a:r>
          </a:p>
          <a:p>
            <a:pPr eaLnBrk="1" hangingPunct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CSE</a:t>
            </a:r>
          </a:p>
          <a:p>
            <a:pPr algn="ctr" eaLnBrk="1" hangingPunct="1"/>
            <a:r>
              <a:rPr lang="en-US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TO</a:t>
            </a:r>
          </a:p>
          <a:p>
            <a:pPr algn="ctr" eaLnBrk="1" hangingPunct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</a:t>
            </a:r>
          </a:p>
          <a:p>
            <a:pPr algn="ctr" eaLnBrk="1" hangingPunct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 Sciences &amp; Technology</a:t>
            </a:r>
          </a:p>
          <a:p>
            <a:pPr algn="ctr" eaLnBrk="1" hangingPunct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JAMIA   HAMDARD</a:t>
            </a:r>
          </a:p>
          <a:p>
            <a:pPr algn="ctr" eaLnBrk="1" hangingPunct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195" name="TextBox 5">
            <a:extLst>
              <a:ext uri="{FF2B5EF4-FFF2-40B4-BE49-F238E27FC236}">
                <a16:creationId xmlns:a16="http://schemas.microsoft.com/office/drawing/2014/main" id="{D10F3714-C206-E723-F67E-60835D838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04800"/>
            <a:ext cx="8763000" cy="2616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Project Report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AI4Sustain: Predicting the Environmental and Socio-Economic Impact of AI Expansion Using Machine Learning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6" name="Picture 3">
            <a:extLst>
              <a:ext uri="{FF2B5EF4-FFF2-40B4-BE49-F238E27FC236}">
                <a16:creationId xmlns:a16="http://schemas.microsoft.com/office/drawing/2014/main" id="{6714352D-376B-F428-D88F-F740E18CC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581400"/>
            <a:ext cx="1049338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351E29-E136-B49E-F408-456B97DDF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870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336"/>
            <a:ext cx="7593106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 sz="3200" b="1"/>
            </a:pPr>
            <a:r>
              <a:rPr dirty="0"/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89759"/>
            <a:ext cx="7593106" cy="387798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 a full‑stack web application to quantify,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forecast the sustainability impact of AI infrastructure expansion.</a:t>
            </a:r>
          </a:p>
          <a:p>
            <a:pPr>
              <a:spcAft>
                <a:spcPts val="6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Collect real‑world data (energy, CO₂, water, GDP, renewables, population) from World Bank API for 261 countries.</a:t>
            </a:r>
          </a:p>
          <a:p>
            <a:pPr>
              <a:spcAft>
                <a:spcPts val="6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Engineer a synthetic AI Expansion Index as a proxy for AI infrastructure intensity.</a:t>
            </a:r>
          </a:p>
          <a:p>
            <a:pPr>
              <a:spcAft>
                <a:spcPts val="6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Train an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for current sustainability score; an LSTM network for 2024‑2040 trajectory.</a:t>
            </a:r>
          </a:p>
          <a:p>
            <a:pPr>
              <a:spcAft>
                <a:spcPts val="6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Deploy an interactive world‑map dashboard for researchers, policymakers, and general public.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C2FD3-7DBF-A5CD-80A4-66A84C53D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575176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 sz="3200" b="1"/>
            </a:pPr>
            <a:r>
              <a:rPr dirty="0"/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22611"/>
            <a:ext cx="7575176" cy="403187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endParaRPr lang="en-US" dirty="0"/>
          </a:p>
          <a:p>
            <a:pPr>
              <a:spcAft>
                <a:spcPts val="600"/>
              </a:spcAft>
              <a:defRPr sz="1800"/>
            </a:pPr>
            <a:r>
              <a:rPr dirty="0"/>
              <a:t>• Rapid AI &amp; data </a:t>
            </a:r>
            <a:r>
              <a:rPr dirty="0" err="1"/>
              <a:t>centre</a:t>
            </a:r>
            <a:r>
              <a:rPr dirty="0"/>
              <a:t> growth places unprecedented, uneven demands on global resources.</a:t>
            </a:r>
          </a:p>
          <a:p>
            <a:pPr>
              <a:spcAft>
                <a:spcPts val="600"/>
              </a:spcAft>
              <a:defRPr sz="1800"/>
            </a:pPr>
            <a:r>
              <a:rPr dirty="0"/>
              <a:t>• No existing unified framework:</a:t>
            </a:r>
          </a:p>
          <a:p>
            <a:pPr>
              <a:spcAft>
                <a:spcPts val="600"/>
              </a:spcAft>
              <a:defRPr sz="1800"/>
            </a:pPr>
            <a:r>
              <a:rPr dirty="0"/>
              <a:t>    – Quantifies per‑country sustainability impact of AI expansion.</a:t>
            </a:r>
          </a:p>
          <a:p>
            <a:pPr>
              <a:spcAft>
                <a:spcPts val="600"/>
              </a:spcAft>
              <a:defRPr sz="1800"/>
            </a:pPr>
            <a:r>
              <a:rPr dirty="0"/>
              <a:t>    – Forecasts impact over a 15‑year horizon.</a:t>
            </a:r>
          </a:p>
          <a:p>
            <a:pPr>
              <a:spcAft>
                <a:spcPts val="600"/>
              </a:spcAft>
              <a:defRPr sz="1800"/>
            </a:pPr>
            <a:r>
              <a:rPr dirty="0"/>
              <a:t>    – Provides an intuitive, non‑technical visual interface.</a:t>
            </a:r>
          </a:p>
          <a:p>
            <a:pPr>
              <a:spcAft>
                <a:spcPts val="600"/>
              </a:spcAft>
              <a:defRPr sz="1800"/>
            </a:pPr>
            <a:r>
              <a:rPr dirty="0"/>
              <a:t>    – Integrates energy, water, carbon, socio‑economic, and renewable dimensions into a single risk score.</a:t>
            </a:r>
          </a:p>
          <a:p>
            <a:pPr>
              <a:spcAft>
                <a:spcPts val="600"/>
              </a:spcAft>
              <a:defRPr sz="1800"/>
            </a:pPr>
            <a:r>
              <a:rPr dirty="0"/>
              <a:t>• AI4Sustain addresses this gap with a data‑driven, ML‑powered platform.</a:t>
            </a:r>
            <a:endParaRPr lang="en-US" dirty="0"/>
          </a:p>
          <a:p>
            <a:pPr>
              <a:spcAft>
                <a:spcPts val="600"/>
              </a:spcAft>
              <a:defRPr sz="1800"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B0DF8-43CC-060D-799A-115959AAA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548282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 sz="3200" b="1"/>
            </a:pPr>
            <a:r>
              <a:rPr dirty="0"/>
              <a:t>Use Case Diagram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394DA9-A2A3-5C69-D576-CF8B241B01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97"/>
          <a:stretch>
            <a:fillRect/>
          </a:stretch>
        </p:blipFill>
        <p:spPr>
          <a:xfrm>
            <a:off x="215153" y="1438730"/>
            <a:ext cx="7790329" cy="451842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B0030-9D16-6C9C-4E69-0468C5269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4F3540-DC30-0B98-B779-CF3439E9B7F1}"/>
              </a:ext>
            </a:extLst>
          </p:cNvPr>
          <p:cNvCxnSpPr>
            <a:cxnSpLocks/>
          </p:cNvCxnSpPr>
          <p:nvPr/>
        </p:nvCxnSpPr>
        <p:spPr>
          <a:xfrm>
            <a:off x="8005482" y="1524000"/>
            <a:ext cx="0" cy="435684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566212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 sz="3200" b="1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Diagram–Backend (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Python)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A3F2C-CE7C-A58B-BF1F-DD8947305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1AFF3A-EE4C-9EF6-55F0-F4BDCB7A5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7621"/>
            <a:ext cx="7566213" cy="50471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620000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 sz="3200" b="1"/>
            </a:pPr>
            <a:r>
              <a:rPr dirty="0"/>
              <a:t>Class Diagram – Frontend (React)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AA052-267B-F54C-CC4E-98788FDBF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CE2D51-B266-5875-673B-A72E9DDB0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90738"/>
            <a:ext cx="7620000" cy="5193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62" y="365760"/>
            <a:ext cx="7892668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 sz="3200" b="1"/>
            </a:pPr>
            <a:r>
              <a:rPr dirty="0"/>
              <a:t>Entity Relationship Diagram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490B26-563F-4A8C-2F68-10B9E3E15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61" y="1171161"/>
            <a:ext cx="7892668" cy="532107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BA16F0-6FC6-718C-56AD-25432BBEF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9748" y="365760"/>
            <a:ext cx="7667292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 sz="3200" b="1"/>
            </a:pPr>
            <a:r>
              <a:rPr sz="2800" dirty="0"/>
              <a:t>Gantt Chart</a:t>
            </a:r>
            <a:r>
              <a:rPr lang="en-US" sz="2800" dirty="0"/>
              <a:t>-</a:t>
            </a:r>
            <a:r>
              <a:rPr sz="2800" dirty="0"/>
              <a:t>Project Timeline(6 months)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777318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Month 1: Literature review, problem definition</a:t>
            </a:r>
          </a:p>
          <a:p>
            <a:pPr>
              <a:spcAft>
                <a:spcPts val="600"/>
              </a:spcAft>
              <a:defRPr sz="18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Month 2: World Bank API data collection, preprocessing, EDA</a:t>
            </a:r>
          </a:p>
          <a:p>
            <a:pPr>
              <a:spcAft>
                <a:spcPts val="600"/>
              </a:spcAft>
              <a:defRPr sz="18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Month 3: Feature engineering, AI Expansion Index, sustainability score formula</a:t>
            </a:r>
          </a:p>
          <a:p>
            <a:pPr>
              <a:spcAft>
                <a:spcPts val="600"/>
              </a:spcAft>
              <a:defRPr sz="18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Month 4: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LSTM model training, hyperparameter tuning, evaluation</a:t>
            </a:r>
          </a:p>
          <a:p>
            <a:pPr>
              <a:spcAft>
                <a:spcPts val="600"/>
              </a:spcAft>
              <a:defRPr sz="18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Month 5: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 development, React frontend (map + dashboard)</a:t>
            </a:r>
          </a:p>
          <a:p>
            <a:pPr>
              <a:spcAft>
                <a:spcPts val="600"/>
              </a:spcAft>
              <a:defRPr sz="18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Month 6: Integration, testing, bug fixing, documentation, report preparation</a:t>
            </a:r>
          </a:p>
          <a:p>
            <a:pPr>
              <a:spcAft>
                <a:spcPts val="600"/>
              </a:spcAft>
              <a:defRPr sz="18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 training (Month 4) and frontend prototyping (Month 5) partially overlap.</a:t>
            </a:r>
          </a:p>
          <a:p>
            <a:pPr>
              <a:spcAft>
                <a:spcPts val="600"/>
              </a:spcAft>
              <a:defRPr sz="18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Milestones:</a:t>
            </a:r>
          </a:p>
          <a:p>
            <a:pPr>
              <a:spcAft>
                <a:spcPts val="600"/>
              </a:spcAft>
              <a:defRPr sz="18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– End of Month 3: Clean dataset &amp; AI index ready</a:t>
            </a:r>
          </a:p>
          <a:p>
            <a:pPr>
              <a:spcAft>
                <a:spcPts val="600"/>
              </a:spcAft>
              <a:defRPr sz="18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– End of Month 4: Models trained and serialised (.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Aft>
                <a:spcPts val="600"/>
              </a:spcAft>
              <a:defRPr sz="18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– End of Month 5: Working API + interactive map</a:t>
            </a:r>
          </a:p>
          <a:p>
            <a:pPr>
              <a:spcAft>
                <a:spcPts val="600"/>
              </a:spcAft>
              <a:defRPr sz="18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– End of Month 6: Final report and presentation</a:t>
            </a:r>
          </a:p>
          <a:p>
            <a:pPr>
              <a:spcAft>
                <a:spcPts val="600"/>
              </a:spcAft>
              <a:defRPr sz="18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10ECC-42F8-C0E4-DCF7-D73D99B59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2F8F51-128C-8F71-BB17-2569DE6259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09"/>
          <a:stretch>
            <a:fillRect/>
          </a:stretch>
        </p:blipFill>
        <p:spPr>
          <a:xfrm>
            <a:off x="404812" y="1320052"/>
            <a:ext cx="7722228" cy="49346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539318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 sz="3200" b="1"/>
            </a:pPr>
            <a:r>
              <a:rPr dirty="0"/>
              <a:t>Conclusion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90816"/>
            <a:ext cx="7539318" cy="487825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endParaRPr lang="en-US" sz="1600" dirty="0"/>
          </a:p>
          <a:p>
            <a:pPr>
              <a:spcAft>
                <a:spcPts val="600"/>
              </a:spcAft>
              <a:defRPr sz="1800"/>
            </a:pPr>
            <a:r>
              <a:rPr sz="1600" dirty="0"/>
              <a:t>•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AI4Sustain successfully delivers country‑level sustainability intelligence via ML.</a:t>
            </a:r>
          </a:p>
          <a:p>
            <a:pPr>
              <a:spcAft>
                <a:spcPts val="600"/>
              </a:spcAft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captures current sustainability score with interpretable features; LSTM projects 15‑year trajectories.</a:t>
            </a:r>
          </a:p>
          <a:p>
            <a:pPr>
              <a:spcAft>
                <a:spcPts val="600"/>
              </a:spcAft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Interactive React dashboard makes complex multi‑indicator data accessible to broad audiences.</a:t>
            </a:r>
          </a:p>
          <a:p>
            <a:pPr>
              <a:spcAft>
                <a:spcPts val="600"/>
              </a:spcAft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Key insight: High‑income, fossil‑fuel‑dependent economies (e.g., Bahrain, Qatar, Kuwait) face the highest risk under unchecked AI expansion.</a:t>
            </a:r>
          </a:p>
          <a:p>
            <a:pPr>
              <a:spcAft>
                <a:spcPts val="600"/>
              </a:spcAft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is modular, replicable, and can be extended with new indicators or finer spatial resolution.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/>
            </a:pPr>
            <a:r>
              <a:rPr lang="en-US" sz="1600" dirty="0"/>
              <a:t>•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synthetic AI Expansion Index with real‑world data when available.</a:t>
            </a:r>
          </a:p>
          <a:p>
            <a:pPr>
              <a:spcAft>
                <a:spcPts val="600"/>
              </a:spcAft>
              <a:defRPr sz="1800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Incorporate policy scenarios (carbon taxes, renewable mandates) into forecasts.</a:t>
            </a:r>
          </a:p>
          <a:p>
            <a:pPr>
              <a:spcAft>
                <a:spcPts val="600"/>
              </a:spcAft>
              <a:defRPr sz="1800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Upgrade from national to sub‑national (city/state) granularity.</a:t>
            </a:r>
          </a:p>
          <a:p>
            <a:pPr>
              <a:spcAft>
                <a:spcPts val="600"/>
              </a:spcAft>
              <a:defRPr sz="1800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Deploy as a public‑facing web service with authentication and rate limiting.</a:t>
            </a:r>
          </a:p>
          <a:p>
            <a:pPr>
              <a:spcAft>
                <a:spcPts val="600"/>
              </a:spcAft>
              <a:defRPr sz="1800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Integrate real‑time energy/carbon APIs for live monitoring.</a:t>
            </a:r>
          </a:p>
          <a:p>
            <a:pPr>
              <a:spcAft>
                <a:spcPts val="600"/>
              </a:spcAft>
              <a:defRPr sz="1800"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A085E-6742-2DCC-D999-F7F235CB7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8941" y="365760"/>
            <a:ext cx="7790330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 sz="3200" b="1"/>
            </a:pPr>
            <a:r>
              <a:rPr dirty="0"/>
              <a:t>Bibliography (IEEE Format)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8941" y="1156447"/>
            <a:ext cx="7790330" cy="535531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T. Chen and C.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Guestrin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scalable tree boosting system," KDD, 2016.</a:t>
            </a:r>
          </a:p>
          <a:p>
            <a:pPr>
              <a:spcAft>
                <a:spcPts val="600"/>
              </a:spcAft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S. Hochreiter and J.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Schmidhuber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"Long short‑term memory," Neural Computation, 1997.</a:t>
            </a:r>
          </a:p>
          <a:p>
            <a:pPr>
              <a:spcAft>
                <a:spcPts val="600"/>
              </a:spcAft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World Bank Open Data, "World Development Indicators," data.worldbank.org.</a:t>
            </a:r>
          </a:p>
          <a:p>
            <a:pPr>
              <a:spcAft>
                <a:spcPts val="600"/>
              </a:spcAft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F. Chollet et al., "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Deep Learning for Humans," GitHub, 2015.</a:t>
            </a:r>
          </a:p>
          <a:p>
            <a:pPr>
              <a:spcAft>
                <a:spcPts val="600"/>
              </a:spcAft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E.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Strubell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Ganesh, and A. McCallum, "Energy and Policy Considerations for Deep Learning in NLP," ACL, 2019.</a:t>
            </a:r>
          </a:p>
          <a:p>
            <a:pPr>
              <a:spcAft>
                <a:spcPts val="600"/>
              </a:spcAft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A. Li et al., "Making AI Less Thirsty," arXiv:2304.03271, 2023.</a:t>
            </a:r>
          </a:p>
          <a:p>
            <a:pPr>
              <a:spcAft>
                <a:spcPts val="600"/>
              </a:spcAft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F. Pedregosa et al., "Scikit‑learn: Machine Learning in Python," JMLR, 2011.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Documentation, S. Ramirez, fastapi.tiangolo.com.</a:t>
            </a:r>
          </a:p>
          <a:p>
            <a:pPr>
              <a:spcAft>
                <a:spcPts val="600"/>
              </a:spcAft>
              <a:defRPr sz="18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React Documentation, Meta,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react.dev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  <a:defRPr sz="18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Leaflet.js, V.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Agafonkin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leafletjs.com.</a:t>
            </a:r>
          </a:p>
          <a:p>
            <a:pPr>
              <a:spcAft>
                <a:spcPts val="600"/>
              </a:spcAft>
              <a:defRPr sz="18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International Energy Agency, "Electricity 2024," iea.org.</a:t>
            </a:r>
          </a:p>
          <a:p>
            <a:pPr>
              <a:spcAft>
                <a:spcPts val="600"/>
              </a:spcAft>
              <a:defRPr sz="18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Recharts, recharts.org.</a:t>
            </a:r>
          </a:p>
          <a:p>
            <a:pPr>
              <a:spcAft>
                <a:spcPts val="600"/>
              </a:spcAft>
              <a:defRPr sz="18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Vite,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vitejs.dev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  <a:defRPr sz="18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A. Vaswani et al., "Attention is all you need,"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2017.</a:t>
            </a:r>
          </a:p>
          <a:p>
            <a:pPr>
              <a:spcAft>
                <a:spcPts val="600"/>
              </a:spcAft>
              <a:defRPr sz="1800"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6F8FD-6798-E32C-1988-537E53FF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ppt418B.tmp</Template>
  <TotalTime>133</TotalTime>
  <Words>888</Words>
  <Application>Microsoft Office PowerPoint</Application>
  <PresentationFormat>On-screen Show (4:3)</PresentationFormat>
  <Paragraphs>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Century Schoolbook</vt:lpstr>
      <vt:lpstr>Times New Roman</vt:lpstr>
      <vt:lpstr>Wingdings</vt:lpstr>
      <vt:lpstr>Wingdings 2</vt:lpstr>
      <vt:lpstr>Oriel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Mohd. Hassan .</cp:lastModifiedBy>
  <cp:revision>5</cp:revision>
  <dcterms:created xsi:type="dcterms:W3CDTF">2013-01-27T09:14:16Z</dcterms:created>
  <dcterms:modified xsi:type="dcterms:W3CDTF">2026-05-06T20:13:41Z</dcterms:modified>
  <cp:category/>
</cp:coreProperties>
</file>